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41280" y="457200"/>
            <a:ext cx="1371600" cy="1371600"/>
          </a:xfrm>
          <a:prstGeom prst="ellipse">
            <a:avLst/>
          </a:prstGeom>
          <a:solidFill>
            <a:srgbClr val="E36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69880" y="685800"/>
            <a:ext cx="914400" cy="914400"/>
          </a:xfrm>
          <a:prstGeom prst="ellipse">
            <a:avLst/>
          </a:prstGeom>
          <a:solidFill>
            <a:srgbClr val="0F4C5C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Calibri"/>
              </a:rPr>
              <a:t>Smart Demand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>
                <a:solidFill>
                  <a:srgbClr val="E36C3D"/>
                </a:solidFill>
                <a:latin typeface="Calibri"/>
              </a:rPr>
              <a:t>Signals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Daily commercial alerts for 6,000 dental clinics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1264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ADCFC"/>
                </a:solidFill>
                <a:latin typeface="Calibri"/>
              </a:rPr>
              <a:t>Inibsa  ·  Interhack BCN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76072"/>
            <a:ext cx="164592" cy="164592"/>
          </a:xfrm>
          <a:prstGeom prst="ellipse">
            <a:avLst/>
          </a:prstGeom>
          <a:solidFill>
            <a:srgbClr val="E36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Calibri"/>
              </a:rPr>
              <a:t>Every morning, a 6,000-clinic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916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Calibri"/>
              </a:rPr>
              <a:t>“Which of our clinics should we contact today,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146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E36C3D"/>
                </a:solidFill>
                <a:latin typeface="Calibri"/>
              </a:rPr>
              <a:t>and why?”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118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6B6B6B"/>
                </a:solidFill>
                <a:latin typeface="Calibri"/>
              </a:rPr>
              <a:t>Today, this is mostly intuition + scattered KPIs.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0"/>
            <a:ext cx="3383280" cy="1554480"/>
          </a:xfrm>
          <a:prstGeom prst="roundRect">
            <a:avLst/>
          </a:prstGeom>
          <a:solidFill>
            <a:srgbClr val="F2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75488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0F4C5C"/>
                </a:solidFill>
                <a:latin typeface="Calibri"/>
              </a:rPr>
              <a:t>6,000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4864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Calibri"/>
              </a:rPr>
              <a:t>dental clinics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4572000"/>
            <a:ext cx="3383280" cy="1554480"/>
          </a:xfrm>
          <a:prstGeom prst="roundRect">
            <a:avLst/>
          </a:prstGeom>
          <a:solidFill>
            <a:srgbClr val="F2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475488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0F4C5C"/>
                </a:solidFill>
                <a:latin typeface="Calibri"/>
              </a:rPr>
              <a:t>5 years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54864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Calibri"/>
              </a:rPr>
              <a:t>of sales history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4572000"/>
            <a:ext cx="3383280" cy="1554480"/>
          </a:xfrm>
          <a:prstGeom prst="roundRect">
            <a:avLst/>
          </a:prstGeom>
          <a:solidFill>
            <a:srgbClr val="F2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475488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0F4C5C"/>
                </a:solidFill>
                <a:latin typeface="Calibri"/>
              </a:rPr>
              <a:t>25 SKUs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54864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Calibri"/>
              </a:rPr>
              <a:t>across 4 sub-families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76072"/>
            <a:ext cx="164592" cy="164592"/>
          </a:xfrm>
          <a:prstGeom prst="ellipse">
            <a:avLst/>
          </a:prstGeom>
          <a:solidFill>
            <a:srgbClr val="E36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Calibri"/>
              </a:rPr>
              <a:t>Two products. Two brains.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515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B6B6B"/>
                </a:solidFill>
                <a:latin typeface="Calibri"/>
              </a:rPr>
              <a:t>The brief insists on it — and the data confirms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394960" cy="4663440"/>
          </a:xfrm>
          <a:prstGeom prst="roundRect">
            <a:avLst/>
          </a:prstGeom>
          <a:solidFill>
            <a:srgbClr val="F2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36C3D"/>
                </a:solidFill>
                <a:latin typeface="Calibri"/>
              </a:rPr>
              <a:t>COMMODITIES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4028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F4C5C"/>
                </a:solidFill>
                <a:latin typeface="Calibri"/>
              </a:rPr>
              <a:t>Anestesia · Bioseguridad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260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Recurring purchases, predictable consumption.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520440"/>
            <a:ext cx="50292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E36C3D"/>
                </a:solidFill>
                <a:latin typeface="Calibri"/>
              </a:rPr>
              <a:t>•  </a:t>
            </a:r>
            <a:r>
              <a:rPr sz="1400">
                <a:solidFill>
                  <a:srgbClr val="1A1A1A"/>
                </a:solidFill>
                <a:latin typeface="Calibri"/>
              </a:rPr>
              <a:t>Compare against the clinic's purchase potential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E36C3D"/>
                </a:solidFill>
                <a:latin typeface="Calibri"/>
              </a:rPr>
              <a:t>•  </a:t>
            </a:r>
            <a:r>
              <a:rPr sz="1400">
                <a:solidFill>
                  <a:srgbClr val="1A1A1A"/>
                </a:solidFill>
                <a:latin typeface="Calibri"/>
              </a:rPr>
              <a:t>Loyal: capturing ≥30% of potential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E36C3D"/>
                </a:solidFill>
                <a:latin typeface="Calibri"/>
              </a:rPr>
              <a:t>•  </a:t>
            </a:r>
            <a:r>
              <a:rPr sz="1400">
                <a:solidFill>
                  <a:srgbClr val="1A1A1A"/>
                </a:solidFill>
                <a:latin typeface="Calibri"/>
              </a:rPr>
              <a:t>Promiscuous: split with competitors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E36C3D"/>
                </a:solidFill>
                <a:latin typeface="Calibri"/>
              </a:rPr>
              <a:t>•  </a:t>
            </a:r>
            <a:r>
              <a:rPr sz="1400">
                <a:solidFill>
                  <a:srgbClr val="1A1A1A"/>
                </a:solidFill>
                <a:latin typeface="Calibri"/>
              </a:rPr>
              <a:t>Marginal: residual buyers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E36C3D"/>
                </a:solidFill>
                <a:latin typeface="Calibri"/>
              </a:rPr>
              <a:t>•  </a:t>
            </a:r>
            <a:r>
              <a:rPr sz="1400">
                <a:solidFill>
                  <a:srgbClr val="1A1A1A"/>
                </a:solidFill>
                <a:latin typeface="Calibri"/>
              </a:rPr>
              <a:t>Churn-risk: was active, now silent or dropping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691640"/>
            <a:ext cx="5394960" cy="4663440"/>
          </a:xfrm>
          <a:prstGeom prst="roundRect">
            <a:avLst/>
          </a:prstGeom>
          <a:solidFill>
            <a:srgbClr val="0F4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874519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36C3D"/>
                </a:solidFill>
                <a:latin typeface="Calibri"/>
              </a:rPr>
              <a:t>TECHNICAL PRODUCTS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24028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Biomaterials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9260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Sporadic purchases, case-driven demand.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520440"/>
            <a:ext cx="50292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E36C3D"/>
                </a:solidFill>
                <a:latin typeface="Calibri"/>
              </a:rPr>
              <a:t>•  </a:t>
            </a:r>
            <a:r>
              <a:rPr sz="1400">
                <a:solidFill>
                  <a:srgbClr val="FFFFFF"/>
                </a:solidFill>
                <a:latin typeface="Calibri"/>
              </a:rPr>
              <a:t>Compare each clinic to its own historical pattern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E36C3D"/>
                </a:solidFill>
                <a:latin typeface="Calibri"/>
              </a:rPr>
              <a:t>•  </a:t>
            </a:r>
            <a:r>
              <a:rPr sz="1400">
                <a:solidFill>
                  <a:srgbClr val="FFFFFF"/>
                </a:solidFill>
                <a:latin typeface="Calibri"/>
              </a:rPr>
              <a:t>Year-over-year baseline (neutralises seasonality)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E36C3D"/>
                </a:solidFill>
                <a:latin typeface="Calibri"/>
              </a:rPr>
              <a:t>•  </a:t>
            </a:r>
            <a:r>
              <a:rPr sz="1400">
                <a:solidFill>
                  <a:srgbClr val="FFFFFF"/>
                </a:solidFill>
                <a:latin typeface="Calibri"/>
              </a:rPr>
              <a:t>Detect drops in frequency, volume, or absence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E36C3D"/>
                </a:solidFill>
                <a:latin typeface="Calibri"/>
              </a:rPr>
              <a:t>•  </a:t>
            </a:r>
            <a:r>
              <a:rPr sz="1400">
                <a:solidFill>
                  <a:srgbClr val="FFFFFF"/>
                </a:solidFill>
                <a:latin typeface="Calibri"/>
              </a:rPr>
              <a:t>Distinguish normal pause vs. real deterioration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E36C3D"/>
                </a:solidFill>
                <a:latin typeface="Calibri"/>
              </a:rPr>
              <a:t>•  </a:t>
            </a:r>
            <a:r>
              <a:rPr sz="1400">
                <a:solidFill>
                  <a:srgbClr val="FFFFFF"/>
                </a:solidFill>
                <a:latin typeface="Calibri"/>
              </a:rPr>
              <a:t>Holiday-aware (August, Christmas)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76072"/>
            <a:ext cx="164592" cy="164592"/>
          </a:xfrm>
          <a:prstGeom prst="ellipse">
            <a:avLst/>
          </a:prstGeom>
          <a:solidFill>
            <a:srgbClr val="E36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Calibri"/>
              </a:rPr>
              <a:t>From data to commercial 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377440"/>
            <a:ext cx="2297430" cy="1828800"/>
          </a:xfrm>
          <a:prstGeom prst="roundRect">
            <a:avLst/>
          </a:prstGeom>
          <a:solidFill>
            <a:srgbClr val="F2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788920"/>
            <a:ext cx="229743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0F4C5C"/>
                </a:solidFill>
                <a:latin typeface="Calibri"/>
              </a:rPr>
              <a:t>Purchase
history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703320"/>
            <a:ext cx="193167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Calibri"/>
              </a:rPr>
              <a:t>5 years × daily granularity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937510" y="3154680"/>
            <a:ext cx="365760" cy="274320"/>
          </a:xfrm>
          <a:prstGeom prst="rightArrow">
            <a:avLst/>
          </a:prstGeom>
          <a:solidFill>
            <a:srgbClr val="E36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86150" y="2377440"/>
            <a:ext cx="2297430" cy="1828800"/>
          </a:xfrm>
          <a:prstGeom prst="roundRect">
            <a:avLst/>
          </a:prstGeom>
          <a:solidFill>
            <a:srgbClr val="F2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86150" y="2788920"/>
            <a:ext cx="229743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0F4C5C"/>
                </a:solidFill>
                <a:latin typeface="Calibri"/>
              </a:rPr>
              <a:t>Signal
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69030" y="3703320"/>
            <a:ext cx="193167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Calibri"/>
              </a:rPr>
              <a:t>Two parallel logics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829300" y="3154680"/>
            <a:ext cx="365760" cy="274320"/>
          </a:xfrm>
          <a:prstGeom prst="rightArrow">
            <a:avLst/>
          </a:prstGeom>
          <a:solidFill>
            <a:srgbClr val="E36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77940" y="2377440"/>
            <a:ext cx="2297430" cy="1828800"/>
          </a:xfrm>
          <a:prstGeom prst="roundRect">
            <a:avLst/>
          </a:prstGeom>
          <a:solidFill>
            <a:srgbClr val="F2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7940" y="2788920"/>
            <a:ext cx="229743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0F4C5C"/>
                </a:solidFill>
                <a:latin typeface="Calibri"/>
              </a:rPr>
              <a:t>Daily
alert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0820" y="3703320"/>
            <a:ext cx="193167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Calibri"/>
              </a:rPr>
              <a:t>Score, reason, channel, traceability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721090" y="3154680"/>
            <a:ext cx="365760" cy="274320"/>
          </a:xfrm>
          <a:prstGeom prst="rightArrow">
            <a:avLst/>
          </a:prstGeom>
          <a:solidFill>
            <a:srgbClr val="E36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269730" y="2377440"/>
            <a:ext cx="2297430" cy="1828800"/>
          </a:xfrm>
          <a:prstGeom prst="roundRect">
            <a:avLst/>
          </a:prstGeom>
          <a:solidFill>
            <a:srgbClr val="0F4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69730" y="2788920"/>
            <a:ext cx="229743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Commercial
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52610" y="3703320"/>
            <a:ext cx="193167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CADCFC"/>
                </a:solidFill>
                <a:latin typeface="Calibri"/>
              </a:rPr>
              <a:t>Delegado · Televenta · Marketing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937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6B6B6B"/>
                </a:solidFill>
                <a:latin typeface="Calibri"/>
              </a:rPr>
              <a:t>One function. One date input. End-to-end output.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76072"/>
            <a:ext cx="164592" cy="164592"/>
          </a:xfrm>
          <a:prstGeom prst="ellipse">
            <a:avLst/>
          </a:prstGeom>
          <a:solidFill>
            <a:srgbClr val="E36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Calibri"/>
              </a:rPr>
              <a:t>What's in an alert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6400800" cy="493776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36C3D"/>
                </a:solidFill>
                <a:latin typeface="Consolas"/>
              </a:rPr>
              <a:t>alert_id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1691640"/>
            <a:ext cx="39319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onsolas"/>
              </a:rPr>
              <a:t>"ALT-20251229-000001"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36C3D"/>
                </a:solidFill>
                <a:latin typeface="Consolas"/>
              </a:rPr>
              <a:t>id_cliente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2057400"/>
            <a:ext cx="39319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onsolas"/>
              </a:rPr>
              <a:t>"40439"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23160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36C3D"/>
                </a:solidFill>
                <a:latin typeface="Consolas"/>
              </a:rPr>
              <a:t>provincia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2423160"/>
            <a:ext cx="39319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onsolas"/>
              </a:rPr>
              <a:t>"Zaragoza"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788920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36C3D"/>
                </a:solidFill>
                <a:latin typeface="Consolas"/>
              </a:rPr>
              <a:t>familia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2788920"/>
            <a:ext cx="39319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onsolas"/>
              </a:rPr>
              <a:t>"Categoria C2"  (Bioseguridad)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54680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36C3D"/>
                </a:solidFill>
                <a:latin typeface="Consolas"/>
              </a:rPr>
              <a:t>tipo_alerta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3154680"/>
            <a:ext cx="39319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onsolas"/>
              </a:rPr>
              <a:t>"capture_window"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520440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36C3D"/>
                </a:solidFill>
                <a:latin typeface="Consolas"/>
              </a:rPr>
              <a:t>prioridad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3520440"/>
            <a:ext cx="39319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onsolas"/>
              </a:rPr>
              <a:t>"High"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886200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36C3D"/>
                </a:solidFill>
                <a:latin typeface="Consolas"/>
              </a:rPr>
              <a:t>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80" y="3886200"/>
            <a:ext cx="39319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onsolas"/>
              </a:rPr>
              <a:t>57,875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251960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36C3D"/>
                </a:solidFill>
                <a:latin typeface="Consolas"/>
              </a:rPr>
              <a:t>expected_impact_eur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4680" y="4251960"/>
            <a:ext cx="39319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onsolas"/>
              </a:rPr>
              <a:t>82,679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617720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36C3D"/>
                </a:solidFill>
                <a:latin typeface="Consolas"/>
              </a:rPr>
              <a:t>canal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4680" y="4617720"/>
            <a:ext cx="39319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onsolas"/>
              </a:rPr>
              <a:t>"delegado"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983480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36C3D"/>
                </a:solidFill>
                <a:latin typeface="Consolas"/>
              </a:rPr>
              <a:t>contact_window_days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4983480"/>
            <a:ext cx="39319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onsolas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5349240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36C3D"/>
                </a:solidFill>
                <a:latin typeface="Consolas"/>
              </a:rPr>
              <a:t>motivo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54680" y="5349240"/>
            <a:ext cx="39319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onsolas"/>
              </a:rPr>
              <a:t>"Cliente promiscuo: 6% del potencial..."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5715000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36C3D"/>
                </a:solidFill>
                <a:latin typeface="Consolas"/>
              </a:rPr>
              <a:t>trace_features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54680" y="5715000"/>
            <a:ext cx="39319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onsolas"/>
              </a:rPr>
              <a:t>{ share: 0.06, potencial: 87,672, ... 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169164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36C3D"/>
                </a:solidFill>
                <a:latin typeface="Calibri"/>
              </a:rPr>
              <a:t>Decision unit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2011680"/>
            <a:ext cx="4389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client × familia × motivo × momento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274320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36C3D"/>
                </a:solidFill>
                <a:latin typeface="Calibri"/>
              </a:rPr>
              <a:t>Prioritisation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3063240"/>
            <a:ext cx="4389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score = impact × urgency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379476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36C3D"/>
                </a:solidFill>
                <a:latin typeface="Calibri"/>
              </a:rPr>
              <a:t>Channel routing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4114800"/>
            <a:ext cx="4389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delegado / televenta / marketing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484632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36C3D"/>
                </a:solidFill>
                <a:latin typeface="Calibri"/>
              </a:rPr>
              <a:t>Traceability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79" y="5166360"/>
            <a:ext cx="43891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Every metric that fired the alert is in the trace. Drill into any alert and see the raw numbers. No black box.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48640"/>
            <a:ext cx="164592" cy="164592"/>
          </a:xfrm>
          <a:prstGeom prst="ellipse">
            <a:avLst/>
          </a:prstGeom>
          <a:solidFill>
            <a:srgbClr val="E36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114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By the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515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CADCFC"/>
                </a:solidFill>
                <a:latin typeface="Calibri"/>
              </a:rPr>
              <a:t>Generated for 2025-12-29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3657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>
                <a:solidFill>
                  <a:srgbClr val="E36C3D"/>
                </a:solidFill>
                <a:latin typeface="Calibri"/>
              </a:rPr>
              <a:t>4,271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2336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alerts generated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377440"/>
            <a:ext cx="3657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>
                <a:solidFill>
                  <a:srgbClr val="E36C3D"/>
                </a:solidFill>
                <a:latin typeface="Calibri"/>
              </a:rPr>
              <a:t>1,300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402336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High priority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2377440"/>
            <a:ext cx="3657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>
                <a:solidFill>
                  <a:srgbClr val="E36C3D"/>
                </a:solidFill>
                <a:latin typeface="Calibri"/>
              </a:rPr>
              <a:t>€11.6M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402336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expected commercial impact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1206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36C3D"/>
                </a:solidFill>
                <a:latin typeface="Calibri"/>
              </a:rPr>
              <a:t>By alert 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8640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silent 827   ·   capture_window 1,024   ·   lost 1,565   ·   churn_risk 472   ·   opportunity_spike 383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76072"/>
            <a:ext cx="164592" cy="164592"/>
          </a:xfrm>
          <a:prstGeom prst="ellipse">
            <a:avLst/>
          </a:prstGeom>
          <a:solidFill>
            <a:srgbClr val="E36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Calibri"/>
              </a:rPr>
              <a:t>Live demo · 3 minutes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463040"/>
            <a:ext cx="777240" cy="777240"/>
          </a:xfrm>
          <a:prstGeom prst="ellipse">
            <a:avLst/>
          </a:prstGeom>
          <a:solidFill>
            <a:srgbClr val="E36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9344"/>
            <a:ext cx="777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46304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F4C5C"/>
                </a:solidFill>
                <a:latin typeface="Calibri"/>
              </a:rPr>
              <a:t>Client view — one clinic, one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965960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Pick a high-score client. See the 4-category banner: Lost / Loss risk / Opportunity / Healthy. Each gives one concrete next step — not a label.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3017520"/>
            <a:ext cx="777240" cy="777240"/>
          </a:xfrm>
          <a:prstGeom prst="ellipse">
            <a:avLst/>
          </a:prstGeom>
          <a:solidFill>
            <a:srgbClr val="E36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163824"/>
            <a:ext cx="777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01752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F4C5C"/>
                </a:solidFill>
                <a:latin typeface="Calibri"/>
              </a:rPr>
              <a:t>Monitoring — daily cadence + drill-down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520440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Switch the date back to 2024-06-30. Same code, different alerts. Filter to High priority. Export top-N as HubSpot Tasks JSON.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4572000"/>
            <a:ext cx="777240" cy="777240"/>
          </a:xfrm>
          <a:prstGeom prst="ellipse">
            <a:avLst/>
          </a:prstGeom>
          <a:solidFill>
            <a:srgbClr val="E36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718304"/>
            <a:ext cx="777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57200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F4C5C"/>
                </a:solidFill>
                <a:latin typeface="Calibri"/>
              </a:rPr>
              <a:t>Learning loop — system improving over 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5074920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120 mocked outcomes seed the metrics. Conversion by tipo: capture 33%, silent 11%. The system suggests threshold adjustments automatically.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76072"/>
            <a:ext cx="164592" cy="164592"/>
          </a:xfrm>
          <a:prstGeom prst="ellipse">
            <a:avLst/>
          </a:prstGeom>
          <a:solidFill>
            <a:srgbClr val="E36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Calibri"/>
              </a:rPr>
              <a:t>Layered. CRM-agnostic. Daily idempotent.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1554480"/>
            <a:ext cx="7589520" cy="868680"/>
          </a:xfrm>
          <a:prstGeom prst="roundRect">
            <a:avLst/>
          </a:prstGeom>
          <a:solidFill>
            <a:srgbClr val="E36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606040" y="1664208"/>
            <a:ext cx="7040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Feedback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06040" y="2029968"/>
            <a:ext cx="7040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alert_outcomes.csv → metrics → rule tuning</a:t>
            </a:r>
          </a:p>
        </p:txBody>
      </p:sp>
      <p:sp>
        <p:nvSpPr>
          <p:cNvPr id="7" name="Up Arrow 6"/>
          <p:cNvSpPr/>
          <p:nvPr/>
        </p:nvSpPr>
        <p:spPr>
          <a:xfrm>
            <a:off x="5897880" y="2468880"/>
            <a:ext cx="365760" cy="118872"/>
          </a:xfrm>
          <a:prstGeom prst="upArrow">
            <a:avLst/>
          </a:prstGeom>
          <a:solidFill>
            <a:srgbClr val="E36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286000" y="2606040"/>
            <a:ext cx="7589520" cy="868680"/>
          </a:xfrm>
          <a:prstGeom prst="roundRect">
            <a:avLst/>
          </a:prstGeom>
          <a:solidFill>
            <a:srgbClr val="0F4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2715768"/>
            <a:ext cx="7040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Activation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3081528"/>
            <a:ext cx="7040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build_alerts → ranked, traceable, routed</a:t>
            </a:r>
          </a:p>
        </p:txBody>
      </p:sp>
      <p:sp>
        <p:nvSpPr>
          <p:cNvPr id="11" name="Up Arrow 10"/>
          <p:cNvSpPr/>
          <p:nvPr/>
        </p:nvSpPr>
        <p:spPr>
          <a:xfrm>
            <a:off x="5897880" y="3520440"/>
            <a:ext cx="365760" cy="118872"/>
          </a:xfrm>
          <a:prstGeom prst="upArrow">
            <a:avLst/>
          </a:prstGeom>
          <a:solidFill>
            <a:srgbClr val="E36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286000" y="3657600"/>
            <a:ext cx="7589520" cy="868680"/>
          </a:xfrm>
          <a:prstGeom prst="roundRect">
            <a:avLst/>
          </a:prstGeom>
          <a:solidFill>
            <a:srgbClr val="357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06040" y="3767328"/>
            <a:ext cx="7040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Analytical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4133088"/>
            <a:ext cx="7040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commodity_segments / technical_patterns</a:t>
            </a:r>
          </a:p>
        </p:txBody>
      </p:sp>
      <p:sp>
        <p:nvSpPr>
          <p:cNvPr id="15" name="Up Arrow 14"/>
          <p:cNvSpPr/>
          <p:nvPr/>
        </p:nvSpPr>
        <p:spPr>
          <a:xfrm>
            <a:off x="5897880" y="4572000"/>
            <a:ext cx="365760" cy="118872"/>
          </a:xfrm>
          <a:prstGeom prst="upArrow">
            <a:avLst/>
          </a:prstGeom>
          <a:solidFill>
            <a:srgbClr val="E36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286000" y="4709160"/>
            <a:ext cx="7589520" cy="868680"/>
          </a:xfrm>
          <a:prstGeom prst="roundRect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06040" y="4818888"/>
            <a:ext cx="7040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Data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5184648"/>
            <a:ext cx="7040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cleaned CSVs (Ventas, Clientes, Productos…)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155448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36C3D"/>
                </a:solidFill>
                <a:latin typeface="Calibri"/>
              </a:rPr>
              <a:t>Standalone today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1874519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Python module 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21031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Streamlit 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274320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36C3D"/>
                </a:solidFill>
                <a:latin typeface="Calibri"/>
              </a:rPr>
              <a:t>CRM-ready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30632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HubSpot Tasks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32918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JSON exporter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39319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36C3D"/>
                </a:solidFill>
                <a:latin typeface="Calibri"/>
              </a:rPr>
              <a:t>Idempotent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42519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onsolas"/>
              </a:rPr>
              <a:t>generate_alerts(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44805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onsolas"/>
              </a:rPr>
              <a:t>  date)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76072"/>
            <a:ext cx="164592" cy="164592"/>
          </a:xfrm>
          <a:prstGeom prst="ellipse">
            <a:avLst/>
          </a:prstGeom>
          <a:solidFill>
            <a:srgbClr val="E36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Calibri"/>
              </a:rPr>
              <a:t>Brief scorecard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515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B6B6B"/>
                </a:solidFill>
                <a:latin typeface="Calibri"/>
              </a:rPr>
              <a:t>8 of 8 deliverables shipped.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5440680" cy="960120"/>
          </a:xfrm>
          <a:prstGeom prst="roundRect">
            <a:avLst/>
          </a:prstGeom>
          <a:solidFill>
            <a:srgbClr val="F2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2057400"/>
            <a:ext cx="411480" cy="411480"/>
          </a:xfrm>
          <a:prstGeom prst="ellipse">
            <a:avLst/>
          </a:prstGeom>
          <a:solidFill>
            <a:srgbClr val="E36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029968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075688"/>
            <a:ext cx="4434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Purchase-need prediction for commodities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783080"/>
            <a:ext cx="5440680" cy="960120"/>
          </a:xfrm>
          <a:prstGeom prst="roundRect">
            <a:avLst/>
          </a:prstGeom>
          <a:solidFill>
            <a:srgbClr val="F2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29400" y="2057400"/>
            <a:ext cx="411480" cy="411480"/>
          </a:xfrm>
          <a:prstGeom prst="ellipse">
            <a:avLst/>
          </a:prstGeom>
          <a:solidFill>
            <a:srgbClr val="E36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029968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2075688"/>
            <a:ext cx="4434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Early churn-risk for technical products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880360"/>
            <a:ext cx="5440680" cy="960120"/>
          </a:xfrm>
          <a:prstGeom prst="roundRect">
            <a:avLst/>
          </a:prstGeom>
          <a:solidFill>
            <a:srgbClr val="F2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05840" y="3154680"/>
            <a:ext cx="411480" cy="411480"/>
          </a:xfrm>
          <a:prstGeom prst="ellipse">
            <a:avLst/>
          </a:prstGeom>
          <a:solidFill>
            <a:srgbClr val="E36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127248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172968"/>
            <a:ext cx="4434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Capture-window identification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2880360"/>
            <a:ext cx="5440680" cy="960120"/>
          </a:xfrm>
          <a:prstGeom prst="roundRect">
            <a:avLst/>
          </a:prstGeom>
          <a:solidFill>
            <a:srgbClr val="F2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629400" y="3154680"/>
            <a:ext cx="411480" cy="411480"/>
          </a:xfrm>
          <a:prstGeom prst="ellipse">
            <a:avLst/>
          </a:prstGeom>
          <a:solidFill>
            <a:srgbClr val="E36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3127248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172968"/>
            <a:ext cx="4434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Interpretable, actionable alerts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977639"/>
            <a:ext cx="5440680" cy="960120"/>
          </a:xfrm>
          <a:prstGeom prst="roundRect">
            <a:avLst/>
          </a:prstGeom>
          <a:solidFill>
            <a:srgbClr val="F2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05840" y="4251959"/>
            <a:ext cx="411480" cy="411480"/>
          </a:xfrm>
          <a:prstGeom prst="ellipse">
            <a:avLst/>
          </a:prstGeom>
          <a:solidFill>
            <a:srgbClr val="E36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4224527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4270247"/>
            <a:ext cx="4434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Operational prioritisation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3977639"/>
            <a:ext cx="5440680" cy="960120"/>
          </a:xfrm>
          <a:prstGeom prst="roundRect">
            <a:avLst/>
          </a:prstGeom>
          <a:solidFill>
            <a:srgbClr val="F2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29400" y="4251959"/>
            <a:ext cx="411480" cy="411480"/>
          </a:xfrm>
          <a:prstGeom prst="ellipse">
            <a:avLst/>
          </a:prstGeom>
          <a:solidFill>
            <a:srgbClr val="E36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4224527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4270247"/>
            <a:ext cx="4434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Daily-operation proposal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074920"/>
            <a:ext cx="5440680" cy="960120"/>
          </a:xfrm>
          <a:prstGeom prst="roundRect">
            <a:avLst/>
          </a:prstGeom>
          <a:solidFill>
            <a:srgbClr val="F2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05840" y="5349240"/>
            <a:ext cx="411480" cy="411480"/>
          </a:xfrm>
          <a:prstGeom prst="ellipse">
            <a:avLst/>
          </a:prstGeom>
          <a:solidFill>
            <a:srgbClr val="E36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560" y="5321808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00200" y="5367528"/>
            <a:ext cx="4434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Standalone-to-CRM evolution path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55080" y="5074920"/>
            <a:ext cx="5440680" cy="960120"/>
          </a:xfrm>
          <a:prstGeom prst="roundRect">
            <a:avLst/>
          </a:prstGeom>
          <a:solidFill>
            <a:srgbClr val="F2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629400" y="5349240"/>
            <a:ext cx="411480" cy="411480"/>
          </a:xfrm>
          <a:prstGeom prst="ellipse">
            <a:avLst/>
          </a:prstGeom>
          <a:solidFill>
            <a:srgbClr val="E36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0" y="5321808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60" y="5367528"/>
            <a:ext cx="4434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Learning capability (feedback loop)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76072"/>
            <a:ext cx="164592" cy="164592"/>
          </a:xfrm>
          <a:prstGeom prst="ellipse">
            <a:avLst/>
          </a:prstGeom>
          <a:solidFill>
            <a:srgbClr val="E36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Calibri"/>
              </a:rPr>
              <a:t>What's next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1280160" cy="502920"/>
          </a:xfrm>
          <a:prstGeom prst="roundRect">
            <a:avLst/>
          </a:prstGeom>
          <a:solidFill>
            <a:srgbClr val="E36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55648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Phase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78308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Wire alerts into Inibsa's CRM via the existing HubSpot exporter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06040"/>
            <a:ext cx="1280160" cy="502920"/>
          </a:xfrm>
          <a:prstGeom prst="roundRect">
            <a:avLst/>
          </a:prstGeom>
          <a:solidFill>
            <a:srgbClr val="E36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70048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Phase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69748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Replace mocked outcomes with real recordings from sales team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520440"/>
            <a:ext cx="1280160" cy="502920"/>
          </a:xfrm>
          <a:prstGeom prst="roundRect">
            <a:avLst/>
          </a:prstGeom>
          <a:solidFill>
            <a:srgbClr val="E36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584448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Phase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361188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Threshold auto-tuning when ≥500 real outcomes accumulate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34840"/>
            <a:ext cx="1280160" cy="502920"/>
          </a:xfrm>
          <a:prstGeom prst="roundRect">
            <a:avLst/>
          </a:prstGeom>
          <a:solidFill>
            <a:srgbClr val="E36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498848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Phase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452628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Run a 30-day pilot with control group to measure real lift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943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Calibri"/>
              </a:rPr>
              <a:t>The architecture supports all of this without rewrites.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870448" y="1828800"/>
            <a:ext cx="457200" cy="457200"/>
          </a:xfrm>
          <a:prstGeom prst="ellipse">
            <a:avLst/>
          </a:prstGeom>
          <a:solidFill>
            <a:srgbClr val="E36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560320"/>
            <a:ext cx="1219169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Calibri"/>
              </a:rPr>
              <a:t>Thank you.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023360"/>
            <a:ext cx="121916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0">
                <a:solidFill>
                  <a:srgbClr val="E36C3D"/>
                </a:solidFill>
                <a:latin typeface="Calibri"/>
              </a:rPr>
              <a:t>Smart Demand Signals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66344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CADCFC"/>
                </a:solidFill>
                <a:latin typeface="Consolas"/>
              </a:rPr>
              <a:t>github.com/BielMe/hackaton1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